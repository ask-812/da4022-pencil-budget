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5156" cy="6858000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10896" y="128016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Segoe UI"/>
              </a:rPr>
              <a:t>DA4022 MID-PROJECT REPORT   ·   SELF-PROPOSED (ANCHOR #2)   ·   EXTENDING PENCIL (ICML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10896"/>
            <a:ext cx="6995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2161C"/>
                </a:solidFill>
                <a:latin typeface="Georgia"/>
              </a:rPr>
              <a:t>How Much PENCIL Can You Afford?</a:t>
            </a:r>
            <a:r>
              <a:rPr sz="1140" b="1" i="0">
                <a:solidFill>
                  <a:srgbClr val="333B45"/>
                </a:solidFill>
                <a:latin typeface="Segoe UI"/>
              </a:rPr>
              <a:t>   Compute-Allocation Laws for Link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73736"/>
            <a:ext cx="877824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Amit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333B45"/>
                </a:solidFill>
                <a:latin typeface="Segoe UI"/>
              </a:rPr>
              <a:t>Kumar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E7781"/>
                </a:solidFill>
                <a:latin typeface="Consolas"/>
              </a:rPr>
              <a:t>DA4022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47888" y="201168"/>
            <a:ext cx="9144" cy="438912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84464" y="173736"/>
            <a:ext cx="877824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Ashmit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333B45"/>
                </a:solidFill>
                <a:latin typeface="Segoe UI"/>
              </a:rPr>
              <a:t>Satpute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E7781"/>
                </a:solidFill>
                <a:latin typeface="Consolas"/>
              </a:rPr>
              <a:t>DA4022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71432" y="201168"/>
            <a:ext cx="9144" cy="438912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8008" y="173736"/>
            <a:ext cx="877824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Arnav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333B45"/>
                </a:solidFill>
                <a:latin typeface="Segoe UI"/>
              </a:rPr>
              <a:t>Kshirsagar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E7781"/>
                </a:solidFill>
                <a:latin typeface="Consolas"/>
              </a:rPr>
              <a:t>DA4022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94976" y="201168"/>
            <a:ext cx="9144" cy="438912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31552" y="173736"/>
            <a:ext cx="877824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Pranav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333B45"/>
                </a:solidFill>
                <a:latin typeface="Segoe UI"/>
              </a:rPr>
              <a:t>Shalya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E7781"/>
                </a:solidFill>
                <a:latin typeface="Consolas"/>
              </a:rPr>
              <a:t>DA4022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18520" y="201168"/>
            <a:ext cx="9144" cy="438912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55096" y="173736"/>
            <a:ext cx="877824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Atharv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333B45"/>
                </a:solidFill>
                <a:latin typeface="Segoe UI"/>
              </a:rPr>
              <a:t>Wankhede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E7781"/>
                </a:solidFill>
                <a:latin typeface="Consolas"/>
              </a:rPr>
              <a:t>DA4022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" y="731520"/>
            <a:ext cx="713232" cy="34747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0704" y="747979"/>
            <a:ext cx="10899648" cy="10972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822960"/>
            <a:ext cx="39136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9D1B32"/>
                </a:solidFill>
                <a:latin typeface="Segoe UI"/>
              </a:rPr>
              <a:t>I.  TWO-STAGE RETRIEVE-THEN-RERANK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1014984"/>
            <a:ext cx="3913632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0896" y="1014984"/>
            <a:ext cx="41148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624" y="1097280"/>
            <a:ext cx="969264" cy="493776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1124712"/>
            <a:ext cx="93268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2161C"/>
                </a:solidFill>
                <a:latin typeface="Segoe UI"/>
              </a:rPr>
              <a:t>Candidate Pool
</a:t>
            </a:r>
            <a:r>
              <a:rPr sz="660" b="0" i="0">
                <a:solidFill>
                  <a:srgbClr val="6E7781"/>
                </a:solidFill>
                <a:latin typeface="Segoe UI"/>
              </a:rPr>
              <a:t>N pairs (Pool) or
501 / query (HeaRT)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1216152"/>
            <a:ext cx="19202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7781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0200" y="1097280"/>
            <a:ext cx="1133856" cy="493776"/>
          </a:xfrm>
          <a:prstGeom prst="roundRect">
            <a:avLst>
              <a:gd name="adj" fmla="val 8000"/>
            </a:avLst>
          </a:prstGeom>
          <a:solidFill>
            <a:srgbClr val="F5EFE4"/>
          </a:solidFill>
          <a:ln w="11430">
            <a:solidFill>
              <a:srgbClr val="B85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8488" y="1124712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B85D14"/>
                </a:solidFill>
                <a:latin typeface="Segoe UI"/>
              </a:rPr>
              <a:t>Stage 1 · Adamic–Adar
</a:t>
            </a:r>
            <a:r>
              <a:rPr sz="660" b="0" i="0">
                <a:solidFill>
                  <a:srgbClr val="333B45"/>
                </a:solidFill>
                <a:latin typeface="Segoe UI"/>
              </a:rPr>
              <a:t>CPU &lt;1 ms · 0% GPU
ranks &amp; shortlists top 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1216152"/>
            <a:ext cx="19202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9D1B32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4368" y="1097280"/>
            <a:ext cx="1188720" cy="493776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1124712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F3A5F"/>
                </a:solidFill>
                <a:latin typeface="Segoe UI"/>
              </a:rPr>
              <a:t>Stage 2 · PENCIL
</a:t>
            </a:r>
            <a:r>
              <a:rPr sz="660" b="0" i="0">
                <a:solidFill>
                  <a:srgbClr val="333B45"/>
                </a:solidFill>
                <a:latin typeface="Segoe UI"/>
              </a:rPr>
              <a:t>Transformer re-scores
top k with budget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" y="1655064"/>
            <a:ext cx="3712463" cy="310896"/>
          </a:xfrm>
          <a:prstGeom prst="rect">
            <a:avLst/>
          </a:prstGeom>
          <a:solidFill>
            <a:srgbClr val="FAF8F5"/>
          </a:solidFill>
          <a:ln w="635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1682496"/>
            <a:ext cx="36210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9D1B32"/>
                </a:solidFill>
                <a:latin typeface="Segoe UI"/>
              </a:rPr>
              <a:t>TWO INFERENCE KNOBS (NO RETRAINING):   </a:t>
            </a:r>
            <a:r>
              <a:rPr sz="780" b="1" i="0">
                <a:solidFill>
                  <a:srgbClr val="12161C"/>
                </a:solidFill>
                <a:latin typeface="Consolas"/>
              </a:rPr>
              <a:t>k</a:t>
            </a:r>
            <a:r>
              <a:rPr sz="720" b="0" i="0">
                <a:solidFill>
                  <a:srgbClr val="333B45"/>
                </a:solidFill>
                <a:latin typeface="Segoe UI"/>
              </a:rPr>
              <a:t> = shortlist re-ranked (0–100%)   ·   </a:t>
            </a:r>
            <a:r>
              <a:rPr sz="780" b="1" i="0">
                <a:solidFill>
                  <a:srgbClr val="12161C"/>
                </a:solidFill>
                <a:latin typeface="Consolas"/>
              </a:rPr>
              <a:t>s</a:t>
            </a:r>
            <a:r>
              <a:rPr sz="720" b="0" i="0">
                <a:solidFill>
                  <a:srgbClr val="333B45"/>
                </a:solidFill>
                <a:latin typeface="Segoe UI"/>
              </a:rPr>
              <a:t> = subgraph hops×fanout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" y="2112264"/>
            <a:ext cx="39136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9D1B32"/>
                </a:solidFill>
                <a:latin typeface="Segoe UI"/>
              </a:rPr>
              <a:t>II.  FREE-GPU REPRODUCTION &amp; AUDIT (PAPER USED 4–8× A100)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" y="2304288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" y="2304288"/>
            <a:ext cx="1261872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2359152"/>
            <a:ext cx="1115568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3A5F"/>
                </a:solidFill>
                <a:latin typeface="Georgia"/>
              </a:rPr>
              <a:t>44.00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80" b="1" i="0">
                <a:solidFill>
                  <a:srgbClr val="12161C"/>
                </a:solidFill>
                <a:latin typeface="Segoe UI"/>
              </a:rPr>
              <a:t>Cora Test MRR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670" b="0" i="0">
                <a:solidFill>
                  <a:srgbClr val="6E7781"/>
                </a:solidFill>
                <a:latin typeface="Segoe UI"/>
              </a:rPr>
              <a:t>Paper: 42.23 · 1×T4, 3.2h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36776" y="2304288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36776" y="2304288"/>
            <a:ext cx="1261872" cy="36576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09928" y="2359152"/>
            <a:ext cx="1115568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746F"/>
                </a:solidFill>
                <a:latin typeface="Georgia"/>
              </a:rPr>
              <a:t>50.46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80" b="1" i="0">
                <a:solidFill>
                  <a:srgbClr val="12161C"/>
                </a:solidFill>
                <a:latin typeface="Segoe UI"/>
              </a:rPr>
              <a:t>Citeseer Test MRR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670" b="0" i="0">
                <a:solidFill>
                  <a:srgbClr val="6E7781"/>
                </a:solidFill>
                <a:latin typeface="Segoe UI"/>
              </a:rPr>
              <a:t>Paper: 47.51 · 2×T4, 1.0h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62656" y="2304288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62656" y="2304288"/>
            <a:ext cx="1261872" cy="3657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35808" y="2359152"/>
            <a:ext cx="1115568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D1B32"/>
                </a:solidFill>
                <a:latin typeface="Georgia"/>
              </a:rPr>
              <a:t>112 Runs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780" b="1" i="0">
                <a:solidFill>
                  <a:srgbClr val="12161C"/>
                </a:solidFill>
                <a:latin typeface="Segoe UI"/>
              </a:rPr>
              <a:t>4 Regimes Audited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670" b="0" i="0">
                <a:solidFill>
                  <a:srgbClr val="6E7781"/>
                </a:solidFill>
                <a:latin typeface="Segoe UI"/>
              </a:rPr>
              <a:t>HeaRT AA exact · Δ&lt;10⁻⁷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" y="3063240"/>
            <a:ext cx="39136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9D1B32"/>
                </a:solidFill>
                <a:latin typeface="Segoe UI"/>
              </a:rPr>
              <a:t>III.  FOUR EMPIRICAL COMPUTE-ALLOCATION FINDINGS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" y="3264408"/>
            <a:ext cx="3913632" cy="768096"/>
          </a:xfrm>
          <a:prstGeom prst="rect">
            <a:avLst/>
          </a:prstGeom>
          <a:solidFill>
            <a:srgbClr val="FFFFFF"/>
          </a:solidFill>
          <a:ln w="889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896" y="3264408"/>
            <a:ext cx="384048" cy="768096"/>
          </a:xfrm>
          <a:prstGeom prst="rect">
            <a:avLst/>
          </a:prstGeom>
          <a:solidFill>
            <a:srgbClr val="F9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0896" y="3264408"/>
            <a:ext cx="36576" cy="76809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3465576"/>
            <a:ext cx="3474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D1B32"/>
                </a:solidFill>
                <a:latin typeface="Georgia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3310127"/>
            <a:ext cx="338328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Official s = 2×20 over-reads in 3 of 4 regimes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35" b="0" i="0">
                <a:solidFill>
                  <a:srgbClr val="333B45"/>
                </a:solidFill>
                <a:latin typeface="Segoe UI"/>
              </a:rPr>
              <a:t>Halving fanout to s = 2×10 (~65% GPU, 40% less VRAM) matches Cora (42.9 vs 43.7) and beats full PENCIL on Citeseer Pool (51.4 vs 49.7) and Cora HeaRT (14.3 vs 13.3). Only Citeseer HeaRT needs full 2×20 (17.8 vs 14.2).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" y="4078224"/>
            <a:ext cx="3913632" cy="768096"/>
          </a:xfrm>
          <a:prstGeom prst="rect">
            <a:avLst/>
          </a:prstGeom>
          <a:solidFill>
            <a:srgbClr val="FFFFFF"/>
          </a:solidFill>
          <a:ln w="889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0896" y="4078224"/>
            <a:ext cx="384048" cy="768096"/>
          </a:xfrm>
          <a:prstGeom prst="rect">
            <a:avLst/>
          </a:prstGeom>
          <a:solidFill>
            <a:srgbClr val="F9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0896" y="4078224"/>
            <a:ext cx="36576" cy="76809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427939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D1B32"/>
                </a:solidFill>
                <a:latin typeface="Georgia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123944"/>
            <a:ext cx="338328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Frugal hybrid (≤10% GPU) beats heuristics in all 4 tests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35" b="0" i="0">
                <a:solidFill>
                  <a:srgbClr val="333B45"/>
                </a:solidFill>
                <a:latin typeface="Segoe UI"/>
              </a:rPr>
              <a:t>Choosing (k, s) on validation alone under a 10% compute cap lifts Test MRR over Adamic–Adar everywhere: 33.1 → 38.4 on Cora (7% GPU) and 11.0 → 13.8 on Citeseer HeaRT (8% GPU).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0896" y="4892040"/>
            <a:ext cx="3913632" cy="768096"/>
          </a:xfrm>
          <a:prstGeom prst="rect">
            <a:avLst/>
          </a:prstGeom>
          <a:solidFill>
            <a:srgbClr val="FFFFFF"/>
          </a:solidFill>
          <a:ln w="889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896" y="4892040"/>
            <a:ext cx="384048" cy="768096"/>
          </a:xfrm>
          <a:prstGeom prst="rect">
            <a:avLst/>
          </a:prstGeom>
          <a:solidFill>
            <a:srgbClr val="F9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0896" y="4892040"/>
            <a:ext cx="36576" cy="76809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" y="5093207"/>
            <a:ext cx="3474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D1B32"/>
                </a:solidFill>
                <a:latin typeface="Georgia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" y="4937759"/>
            <a:ext cx="338328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Top-10% re-ranking is wasted; PENCIL pays off in the 0-CN tail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35" b="0" i="0">
                <a:solidFill>
                  <a:srgbClr val="333B45"/>
                </a:solidFill>
                <a:latin typeface="Segoe UI"/>
              </a:rPr>
              <a:t>AA's top decile is already true links, so re-ranking k ≤ 10% changes nothing. PENCIL earns its FLOPs where AA is blind: 57.3% of true Cora test links share zero common neighbours.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0896" y="5705856"/>
            <a:ext cx="3913632" cy="768096"/>
          </a:xfrm>
          <a:prstGeom prst="rect">
            <a:avLst/>
          </a:prstGeom>
          <a:solidFill>
            <a:srgbClr val="FFFFFF"/>
          </a:solidFill>
          <a:ln w="889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0896" y="5705856"/>
            <a:ext cx="384048" cy="768096"/>
          </a:xfrm>
          <a:prstGeom prst="rect">
            <a:avLst/>
          </a:prstGeom>
          <a:solidFill>
            <a:srgbClr val="F9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0896" y="5705856"/>
            <a:ext cx="36576" cy="76809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472" y="5907024"/>
            <a:ext cx="3474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D1B32"/>
                </a:solidFill>
                <a:latin typeface="Georgia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5751576"/>
            <a:ext cx="338328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</a:pPr>
            <a:r>
              <a:rPr sz="880" b="1" i="0">
                <a:solidFill>
                  <a:srgbClr val="12161C"/>
                </a:solidFill>
                <a:latin typeface="Segoe UI"/>
              </a:rPr>
              <a:t>Cross-graph budget rules beat noisy local validation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35" b="0" i="0">
                <a:solidFill>
                  <a:srgbClr val="333B45"/>
                </a:solidFill>
                <a:latin typeface="Segoe UI"/>
              </a:rPr>
              <a:t>Applying Cora's validation-chosen (k, s) unchanged to Citeseer Pool beats Citeseer's own validation pick at every cap ≤ 50% (44.9 vs 37.9 MRR at 25% cap) because small-graph validation is noisy.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822960"/>
            <a:ext cx="7589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9D1B32"/>
                </a:solidFill>
                <a:latin typeface="Segoe UI"/>
              </a:rPr>
              <a:t>IV.  SHORTLIST SWEEP, PARETO FRONTIER &amp; HARD-NEGATIVE (HeaRT) REGIMES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1014984"/>
            <a:ext cx="7589520" cy="243230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fig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033271"/>
            <a:ext cx="7516368" cy="225771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370832" y="3511296"/>
            <a:ext cx="7589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9D1B32"/>
                </a:solidFill>
                <a:latin typeface="Segoe UI"/>
              </a:rPr>
              <a:t>V.  VALIDATION-SELECTED OPERATING POINTS &amp; CROSS-GRAPH TRANSFER  (TEST MRR ×100, MEAN ± STD)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0832" y="3703320"/>
            <a:ext cx="7589520" cy="32918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25696" y="373989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Operating Point / Policy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73989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Cora Pool
(527 shared neg)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01584" y="3739896"/>
            <a:ext cx="1207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Citeseer Pool
(455 shared neg)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18320" y="3739896"/>
            <a:ext cx="11704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Cora HeaRT
(500 hard/query)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3739896"/>
            <a:ext cx="1207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Citeseer HeaRT
(500 hard/query)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0832" y="4032504"/>
            <a:ext cx="7589520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70832" y="4311396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34840" y="4087368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2161C"/>
                </a:solidFill>
                <a:latin typeface="Segoe UI"/>
              </a:rPr>
              <a:t>Chance level (random ranking)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67144" y="4087368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1.3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10728" y="4087368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1.5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27464" y="4087368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07624" y="4087368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1.4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70832" y="4320540"/>
            <a:ext cx="7589520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70832" y="4599432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34840" y="4375404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2161C"/>
                </a:solidFill>
                <a:latin typeface="Segoe UI"/>
              </a:rPr>
              <a:t>Adamic–Adar (AA) alone  [0% GPU, &lt;1 ms CPU]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67144" y="4375404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33.1  (31.9 avg)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10728" y="4375404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31.5  (29.4 avg)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27464" y="4375404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12.0  (11.9 avg)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707624" y="4375404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11.0  (10.8 avg)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70832" y="4608576"/>
            <a:ext cx="7589520" cy="288036"/>
          </a:xfrm>
          <a:prstGeom prst="rect">
            <a:avLst/>
          </a:prstGeom>
          <a:solidFill>
            <a:srgbClr val="F5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70832" y="4887468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70832" y="4608576"/>
            <a:ext cx="36576" cy="28803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34840" y="4663440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2161C"/>
                </a:solidFill>
                <a:latin typeface="Segoe UI"/>
              </a:rPr>
              <a:t>★ Frugal Hybrid  [val-picked ≤ 10% GPU cap]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7144" y="4663440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D1B32"/>
                </a:solidFill>
                <a:latin typeface="Consolas"/>
              </a:rPr>
              <a:t>38.4 ± 0.1  (7%)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10728" y="4663440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34.7 ± 2.6  (9%)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27464" y="4663440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12.8 ± 0.2  (0.4%)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707624" y="4663440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13.8 ± 0.5  (8%)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370832" y="4896612"/>
            <a:ext cx="7589520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370832" y="5175504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70832" y="4896612"/>
            <a:ext cx="36576" cy="28803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34840" y="4951476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2161C"/>
                </a:solidFill>
                <a:latin typeface="Segoe UI"/>
              </a:rPr>
              <a:t>★ Cross-Graph Rule  [Cora → Citeseer, 25% cap]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67144" y="4951476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42.0 ± 3.9  (24%)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10728" y="4951476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D1B32"/>
                </a:solidFill>
                <a:latin typeface="Consolas"/>
              </a:rPr>
              <a:t>44.9  (beats own 37.9)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427464" y="4951476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12.9 ± 0.1  (23%)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707624" y="4951476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13.8  (21% GPU)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70832" y="5184648"/>
            <a:ext cx="7589520" cy="288036"/>
          </a:xfrm>
          <a:prstGeom prst="rect">
            <a:avLst/>
          </a:prstGeom>
          <a:solidFill>
            <a:srgbClr val="F5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70832" y="5463540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370832" y="5184648"/>
            <a:ext cx="36576" cy="28803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434840" y="5239512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2161C"/>
                </a:solidFill>
                <a:latin typeface="Segoe UI"/>
              </a:rPr>
              <a:t>★ Half-Fanout PENCIL  [s = 2×10, all candidates]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67144" y="5239512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42.9 ± 1.9  (67%)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10728" y="5239512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D1B32"/>
                </a:solidFill>
                <a:latin typeface="Consolas"/>
              </a:rPr>
              <a:t>51.4 ± 0.7  (63%)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7464" y="5239512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D1B32"/>
                </a:solidFill>
                <a:latin typeface="Consolas"/>
              </a:rPr>
              <a:t>14.3 ± 0.0  (65%)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707624" y="5239512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Consolas"/>
              </a:rPr>
              <a:t>14.2 ± 0.0  (69%)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70832" y="5472684"/>
            <a:ext cx="7589520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70832" y="5751576"/>
            <a:ext cx="7589520" cy="9144"/>
          </a:xfrm>
          <a:prstGeom prst="rect">
            <a:avLst/>
          </a:prstGeom>
          <a:solidFill>
            <a:srgbClr val="DC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434840" y="5527548"/>
            <a:ext cx="230428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2161C"/>
                </a:solidFill>
                <a:latin typeface="Segoe UI"/>
              </a:rPr>
              <a:t>Official Full PENCIL  [s = 2×20, 100% GPU, 2.2 GB]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67144" y="5527548"/>
            <a:ext cx="1115568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43.7 ± 0.9  (100%)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110728" y="5527548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49.7 ± 0.2  (100%)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27464" y="5527548"/>
            <a:ext cx="1152143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B45"/>
                </a:solidFill>
                <a:latin typeface="Consolas"/>
              </a:rPr>
              <a:t>13.3 ± 0.1  (100%)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07624" y="5527548"/>
            <a:ext cx="1188719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B45"/>
                </a:solidFill>
                <a:latin typeface="Consolas"/>
              </a:rPr>
              <a:t>17.8 ± 0.1  (100%)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70832" y="5760720"/>
            <a:ext cx="7589520" cy="20116"/>
          </a:xfrm>
          <a:prstGeom prst="rect">
            <a:avLst/>
          </a:prstGeom>
          <a:solidFill>
            <a:srgbClr val="12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370832" y="5797296"/>
            <a:ext cx="7589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333B45"/>
                </a:solidFill>
                <a:latin typeface="Segoe UI"/>
              </a:rPr>
              <a:t>Protocol note: </a:t>
            </a:r>
            <a:r>
              <a:rPr sz="710" b="0" i="0">
                <a:solidFill>
                  <a:srgbClr val="6E7781"/>
                </a:solidFill>
                <a:latin typeface="Segoe UI"/>
              </a:rPr>
              <a:t>Parentheses in AA row show ties-averaged MRR (matching published HeaRT tables: 31.87, 29.37, 11.91, 10.82); degree tie-break lifts AA to 33.1 / 31.5. Peak VRAM under HeaRT drops from </a:t>
            </a:r>
            <a:r>
              <a:rPr sz="710" b="1" i="0">
                <a:solidFill>
                  <a:srgbClr val="333B45"/>
                </a:solidFill>
                <a:latin typeface="Segoe UI"/>
              </a:rPr>
              <a:t>2,219 MB (s=2×20) → 1,347 MB (s=2×10) → 558 MB (s=2×2)</a:t>
            </a:r>
            <a:r>
              <a:rPr sz="710" b="0" i="0">
                <a:solidFill>
                  <a:srgbClr val="6E7781"/>
                </a:solidFill>
                <a:latin typeface="Segoe UI"/>
              </a:rPr>
              <a:t>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370832" y="5998464"/>
            <a:ext cx="1426464" cy="621792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443984" y="6117336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Segoe UI"/>
              </a:rPr>
              <a:t>ROADMAP → NOV 26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700" b="0" i="0">
                <a:solidFill>
                  <a:srgbClr val="F5EFE4"/>
                </a:solidFill>
                <a:latin typeface="Segoe UI"/>
              </a:rPr>
              <a:t>Final Report · Video · Code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797296" y="5998464"/>
            <a:ext cx="6163056" cy="621792"/>
          </a:xfrm>
          <a:prstGeom prst="rect">
            <a:avLst/>
          </a:prstGeom>
          <a:solidFill>
            <a:srgbClr val="F5EFE4"/>
          </a:solidFill>
          <a:ln w="9525">
            <a:solidFill>
              <a:srgbClr val="B85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07024" y="6062472"/>
            <a:ext cx="598017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12161C"/>
                </a:solidFill>
                <a:latin typeface="Segoe UI"/>
              </a:rPr>
              <a:t>1. Training-axis compute law: </a:t>
            </a:r>
            <a:r>
              <a:rPr sz="740" b="0" i="0">
                <a:solidFill>
                  <a:srgbClr val="333B45"/>
                </a:solidFill>
                <a:latin typeface="Segoe UI"/>
              </a:rPr>
              <a:t>93% of final Cora Test MRR is reached by epoch 42 of 150 (28% of training budget), after which validation/test curves plateau.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2161C"/>
                </a:solidFill>
                <a:latin typeface="Segoe UI"/>
              </a:rPr>
              <a:t>2. Remaining deliverables: </a:t>
            </a:r>
            <a:r>
              <a:rPr sz="740" b="0" i="0">
                <a:solidFill>
                  <a:srgbClr val="333B45"/>
                </a:solidFill>
                <a:latin typeface="Segoe UI"/>
              </a:rPr>
              <a:t>Fit closed-form (k, s) selector on validation · latency + VRAM Pareto frontier · reproducible suite &amp; 112 score dumps at </a:t>
            </a:r>
            <a:r>
              <a:rPr sz="740" b="1" i="0">
                <a:solidFill>
                  <a:srgbClr val="9D1B32"/>
                </a:solidFill>
                <a:latin typeface="Consolas"/>
              </a:rPr>
              <a:t>github.com/Ask-812/da4022-pencil-budget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