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6888" y="283464"/>
            <a:ext cx="50292" cy="6281928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2860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DA4022  /  MID-PROJECT REPORT  /  15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7635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1A1F"/>
                </a:solidFill>
                <a:latin typeface="Georgia"/>
              </a:rPr>
              <a:t>Full-budget PENCIL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76352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D1B32"/>
                </a:solidFill>
                <a:latin typeface="Georgia"/>
              </a:rPr>
              <a:t>often unnecessary.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46888"/>
            <a:ext cx="340156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777D85"/>
                </a:solidFill>
                <a:latin typeface="Aptos"/>
              </a:rPr>
              <a:t>HOW MUCH PENCIL CAN YOU AFFORD?</a:t>
            </a:r>
          </a:p>
          <a:p>
            <a:pPr algn="r">
              <a:lnSpc>
                <a:spcPct val="102000"/>
              </a:lnSpc>
              <a:spcBef>
                <a:spcPts val="300"/>
              </a:spcBef>
              <a:spcAft>
                <a:spcPts val="0"/>
              </a:spcAft>
            </a:pPr>
            <a:r>
              <a:rPr sz="1220" b="1" i="0">
                <a:solidFill>
                  <a:srgbClr val="203657"/>
                </a:solidFill>
                <a:latin typeface="Georgia"/>
              </a:rPr>
              <a:t>Compute-allocation laws for link prediction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62456"/>
            <a:ext cx="11183112" cy="10972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72768"/>
            <a:ext cx="11183112" cy="1051560"/>
          </a:xfrm>
          <a:prstGeom prst="roundRect">
            <a:avLst>
              <a:gd name="adj" fmla="val 8000"/>
            </a:avLst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673352"/>
            <a:ext cx="19659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Georgia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746504"/>
            <a:ext cx="868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E8EDF3"/>
                </a:solidFill>
                <a:latin typeface="Aptos"/>
              </a:rPr>
              <a:t>GPU
budget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1792224"/>
            <a:ext cx="13716" cy="594360"/>
          </a:xfrm>
          <a:prstGeom prst="rect">
            <a:avLst/>
          </a:prstGeom>
          <a:solidFill>
            <a:srgbClr val="5C6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0208" y="1700784"/>
            <a:ext cx="513892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matches or beats full PENCIL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030" b="0" i="0">
                <a:solidFill>
                  <a:srgbClr val="E8EDF3"/>
                </a:solidFill>
                <a:latin typeface="Aptos"/>
              </a:rPr>
              <a:t>in 3 of 4 test regimes — with ~40% less peak VRAM on Cora HeaRT.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54896" y="1792224"/>
            <a:ext cx="1965960" cy="576072"/>
          </a:xfrm>
          <a:prstGeom prst="roundRect">
            <a:avLst>
              <a:gd name="adj" fmla="val 8000"/>
            </a:avLst>
          </a:prstGeom>
          <a:solidFill>
            <a:srgbClr val="2B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3768" y="1865376"/>
            <a:ext cx="1728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Consolas"/>
              </a:rPr>
              <a:t>s = 2×10  vs  2×20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52928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THE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72384"/>
            <a:ext cx="31821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1A1F"/>
                </a:solidFill>
                <a:latin typeface="Georgia"/>
              </a:rPr>
              <a:t>Can we spend PENCIL's GPU compute only where a cheap graph heuristic is uncertain?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40480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OUR INFERENCE-ONLY METHOD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96512"/>
            <a:ext cx="950976" cy="859536"/>
          </a:xfrm>
          <a:prstGeom prst="roundRect">
            <a:avLst>
              <a:gd name="adj" fmla="val 8000"/>
            </a:avLst>
          </a:prstGeom>
          <a:solidFill>
            <a:srgbClr val="F5EADA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" y="4187952"/>
            <a:ext cx="201168" cy="201168"/>
          </a:xfrm>
          <a:prstGeom prst="ellipse">
            <a:avLst/>
          </a:prstGeom>
          <a:solidFill>
            <a:srgbClr val="B46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183380"/>
            <a:ext cx="20116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46318"/>
                </a:solidFill>
                <a:latin typeface="Aptos"/>
              </a:rPr>
              <a:t>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4443984"/>
            <a:ext cx="804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34952"/>
                </a:solidFill>
                <a:latin typeface="Aptos"/>
              </a:rPr>
              <a:t>Adamic–Adar
on CPU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896" y="4370832"/>
            <a:ext cx="100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D85"/>
                </a:solidFill>
                <a:latin typeface="Georgia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4096512"/>
            <a:ext cx="950976" cy="859536"/>
          </a:xfrm>
          <a:prstGeom prst="roundRect">
            <a:avLst>
              <a:gd name="adj" fmla="val 8000"/>
            </a:avLst>
          </a:prstGeom>
          <a:solidFill>
            <a:srgbClr val="F4E7E9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27632" y="4187952"/>
            <a:ext cx="201168" cy="201168"/>
          </a:xfrm>
          <a:prstGeom prst="ellipse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7632" y="4183380"/>
            <a:ext cx="20116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16052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Shortlist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27632" y="4443984"/>
            <a:ext cx="804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34952"/>
                </a:solidFill>
                <a:latin typeface="Aptos"/>
              </a:rPr>
              <a:t>top k candidate
pairs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4370832"/>
            <a:ext cx="100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D85"/>
                </a:solidFill>
                <a:latin typeface="Georgia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06039" y="4096512"/>
            <a:ext cx="950976" cy="859536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79191" y="4187952"/>
            <a:ext cx="201168" cy="201168"/>
          </a:xfrm>
          <a:prstGeom prst="ellipse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9191" y="4183380"/>
            <a:ext cx="20116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79" y="416052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3657"/>
                </a:solidFill>
                <a:latin typeface="Aptos"/>
              </a:rPr>
              <a:t>Re-rank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79191" y="4443984"/>
            <a:ext cx="804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34952"/>
                </a:solidFill>
                <a:latin typeface="Aptos"/>
              </a:rPr>
              <a:t>PENCIL with
budget 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175504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MID-PROJECT STATUS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2239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7670"/>
                </a:solidFill>
                <a:latin typeface="Apto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542239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71A1F"/>
                </a:solidFill>
                <a:latin typeface="Aptos"/>
              </a:rPr>
              <a:t>Reproduced PENCIL</a:t>
            </a:r>
            <a:r>
              <a:rPr sz="750" b="0" i="0">
                <a:solidFill>
                  <a:srgbClr val="777D85"/>
                </a:solidFill>
                <a:latin typeface="Aptos"/>
              </a:rPr>
              <a:t>  Cora 44.00 · Citeseer 50.46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76072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7670"/>
                </a:solidFill>
                <a:latin typeface="Aptos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5760720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71A1F"/>
                </a:solidFill>
                <a:latin typeface="Aptos"/>
              </a:rPr>
              <a:t>112 evaluation runs</a:t>
            </a:r>
            <a:r>
              <a:rPr sz="750" b="0" i="0">
                <a:solidFill>
                  <a:srgbClr val="777D85"/>
                </a:solidFill>
                <a:latin typeface="Aptos"/>
              </a:rPr>
              <a:t>  2 graphs × 2 protocols × budgets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099048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46318"/>
                </a:solidFill>
                <a:latin typeface="Aptos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" y="609904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71A1F"/>
                </a:solidFill>
                <a:latin typeface="Aptos"/>
              </a:rPr>
              <a:t>Next: final decision rule</a:t>
            </a:r>
            <a:r>
              <a:rPr sz="750" b="0" i="0">
                <a:solidFill>
                  <a:srgbClr val="777D85"/>
                </a:solidFill>
                <a:latin typeface="Aptos"/>
              </a:rPr>
              <a:t>  latency/VRAM Pareto + final report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50208" y="2852928"/>
            <a:ext cx="7735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HALF-FANOUT RESULT  /  TEST MRR ×100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50208" y="3108960"/>
            <a:ext cx="185166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50208" y="3108960"/>
            <a:ext cx="1851660" cy="50292"/>
          </a:xfrm>
          <a:prstGeom prst="rect">
            <a:avLst/>
          </a:prstGeom>
          <a:solidFill>
            <a:srgbClr val="203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59936" y="3236976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34952"/>
                </a:solidFill>
                <a:latin typeface="Aptos"/>
              </a:rPr>
              <a:t>Cora · Pool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41648" y="3502152"/>
            <a:ext cx="16687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657"/>
                </a:solidFill>
                <a:latin typeface="Georgia"/>
              </a:rPr>
              <a:t>42.9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41648" y="3867912"/>
            <a:ext cx="16687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777D85"/>
                </a:solidFill>
                <a:latin typeface="Consolas"/>
              </a:rPr>
              <a:t>full: 43.7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4105656"/>
            <a:ext cx="1266444" cy="21031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4" y="4128515"/>
            <a:ext cx="12298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03657"/>
                </a:solidFill>
                <a:latin typeface="Aptos"/>
              </a:rPr>
              <a:t>MATCHES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11596" y="3108960"/>
            <a:ext cx="185166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11596" y="3108960"/>
            <a:ext cx="1851660" cy="50292"/>
          </a:xfrm>
          <a:prstGeom prst="rect">
            <a:avLst/>
          </a:prstGeom>
          <a:solidFill>
            <a:srgbClr val="0F7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21324" y="3236976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34952"/>
                </a:solidFill>
                <a:latin typeface="Aptos"/>
              </a:rPr>
              <a:t>Citeseer · Pool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03036" y="3502152"/>
            <a:ext cx="16687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7670"/>
                </a:solidFill>
                <a:latin typeface="Georgia"/>
              </a:rPr>
              <a:t>51.4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03036" y="3867912"/>
            <a:ext cx="16687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777D85"/>
                </a:solidFill>
                <a:latin typeface="Consolas"/>
              </a:rPr>
              <a:t>full: 49.7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04204" y="4105656"/>
            <a:ext cx="1266444" cy="210312"/>
          </a:xfrm>
          <a:prstGeom prst="roundRect">
            <a:avLst>
              <a:gd name="adj" fmla="val 8000"/>
            </a:avLst>
          </a:prstGeom>
          <a:solidFill>
            <a:srgbClr val="E4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22492" y="4128515"/>
            <a:ext cx="12298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7670"/>
                </a:solidFill>
                <a:latin typeface="Aptos"/>
              </a:rPr>
              <a:t>BEATS FULL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72984" y="3108960"/>
            <a:ext cx="185166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872984" y="3108960"/>
            <a:ext cx="1851660" cy="50292"/>
          </a:xfrm>
          <a:prstGeom prst="rect">
            <a:avLst/>
          </a:prstGeom>
          <a:solidFill>
            <a:srgbClr val="0F7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82712" y="3236976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34952"/>
                </a:solidFill>
                <a:latin typeface="Aptos"/>
              </a:rPr>
              <a:t>Cora · HeaRT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64424" y="3502152"/>
            <a:ext cx="16687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7670"/>
                </a:solidFill>
                <a:latin typeface="Georgia"/>
              </a:rPr>
              <a:t>14.3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64424" y="3867912"/>
            <a:ext cx="16687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777D85"/>
                </a:solidFill>
                <a:latin typeface="Consolas"/>
              </a:rPr>
              <a:t>full: 13.3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65592" y="4105656"/>
            <a:ext cx="1266444" cy="210312"/>
          </a:xfrm>
          <a:prstGeom prst="roundRect">
            <a:avLst>
              <a:gd name="adj" fmla="val 8000"/>
            </a:avLst>
          </a:prstGeom>
          <a:solidFill>
            <a:srgbClr val="E4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83880" y="4128515"/>
            <a:ext cx="12298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7670"/>
                </a:solidFill>
                <a:latin typeface="Aptos"/>
              </a:rPr>
              <a:t>BEATS FULL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34372" y="3108960"/>
            <a:ext cx="185166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834372" y="3108960"/>
            <a:ext cx="1851660" cy="50292"/>
          </a:xfrm>
          <a:prstGeom prst="rect">
            <a:avLst/>
          </a:prstGeom>
          <a:solidFill>
            <a:srgbClr val="9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44100" y="3236976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34952"/>
                </a:solidFill>
                <a:latin typeface="Aptos"/>
              </a:rPr>
              <a:t>Citeseer · HeaRT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25812" y="3502152"/>
            <a:ext cx="16687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9D1B32"/>
                </a:solidFill>
                <a:latin typeface="Georgia"/>
              </a:rPr>
              <a:t>14.2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5812" y="3867912"/>
            <a:ext cx="16687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777D85"/>
                </a:solidFill>
                <a:latin typeface="Consolas"/>
              </a:rPr>
              <a:t>full: 17.8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26980" y="4105656"/>
            <a:ext cx="1266444" cy="210312"/>
          </a:xfrm>
          <a:prstGeom prst="roundRect">
            <a:avLst>
              <a:gd name="adj" fmla="val 8000"/>
            </a:avLst>
          </a:prstGeom>
          <a:solidFill>
            <a:srgbClr val="F4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45268" y="4128515"/>
            <a:ext cx="12298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9D1B32"/>
                </a:solidFill>
                <a:latin typeface="Aptos"/>
              </a:rPr>
              <a:t>NEEDS FULL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50208" y="4599432"/>
            <a:ext cx="7735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D1B32"/>
                </a:solidFill>
                <a:latin typeface="Aptos"/>
              </a:rPr>
              <a:t>THE FULL BUDGET IS NOT THE DEFAULT WINNER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950208" y="4846320"/>
            <a:ext cx="7735824" cy="1344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D4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fig_mi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4901184"/>
            <a:ext cx="7571232" cy="1225296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02920" y="6437376"/>
            <a:ext cx="11183112" cy="10972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" y="6519672"/>
            <a:ext cx="7589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D1B32"/>
                </a:solidFill>
                <a:latin typeface="Aptos"/>
              </a:rPr>
              <a:t>INTERIM LAW: </a:t>
            </a:r>
            <a:r>
              <a:rPr sz="819" b="1" i="0">
                <a:solidFill>
                  <a:srgbClr val="171A1F"/>
                </a:solidFill>
                <a:latin typeface="Aptos"/>
              </a:rPr>
              <a:t>reduce neighborhood fanout first; reserve full context for the hard regime.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492240"/>
            <a:ext cx="382219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77D85"/>
                </a:solidFill>
                <a:latin typeface="Aptos"/>
              </a:rPr>
              <a:t>Amit Kumar · Ashmit Satpute · Arnav Kshirsagar · Pranav Shalya · Atharv Wankhede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