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82880"/>
            <a:ext cx="45720" cy="643737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173736"/>
            <a:ext cx="7086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9D1B32"/>
                </a:solidFill>
                <a:latin typeface="Aptos"/>
              </a:rPr>
              <a:t>DA4022 MID-PROJECT REPORT  ·  SELF-PROPOSED PENCIL EXTENSION  ·  15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356616"/>
            <a:ext cx="699516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71A1F"/>
                </a:solidFill>
                <a:latin typeface="Georgia"/>
              </a:rPr>
              <a:t>How Much PENCIL Can You Afford?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722376"/>
            <a:ext cx="6995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34952"/>
                </a:solidFill>
                <a:latin typeface="Aptos"/>
              </a:rPr>
              <a:t>Compute-allocation laws for link prediction  ·  choosing shortlist k and context budget s without retraining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10312"/>
            <a:ext cx="44714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D1B32"/>
                </a:solidFill>
                <a:latin typeface="Aptos"/>
              </a:rPr>
              <a:t>TEAM</a:t>
            </a:r>
          </a:p>
          <a:p>
            <a:pPr algn="r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777D85"/>
                </a:solidFill>
                <a:latin typeface="Aptos"/>
              </a:rPr>
              <a:t>Amit Kumar  ·  Ashmit Satpute  ·  Arnav Kshirsagar  ·  Pranav Shalya  ·  Atharv Wankhede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" y="932688"/>
            <a:ext cx="11475720" cy="10972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63824" y="1097280"/>
            <a:ext cx="10972" cy="5404104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51192" y="1097280"/>
            <a:ext cx="10972" cy="5404104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" y="1051560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Aptos"/>
              </a:rPr>
              <a:t>01  METHOD + REPRODUCTION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" y="1280160"/>
            <a:ext cx="2743200" cy="11978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" y="1280160"/>
            <a:ext cx="41148" cy="1197864"/>
          </a:xfrm>
          <a:prstGeom prst="rect">
            <a:avLst/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371600"/>
            <a:ext cx="2523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9D1B32"/>
                </a:solidFill>
                <a:latin typeface="Aptos"/>
              </a:rPr>
              <a:t>Research question</a:t>
            </a:r>
            <a:r>
              <a:rPr sz="819" b="1" i="0">
                <a:solidFill>
                  <a:srgbClr val="171A1F"/>
                </a:solidFill>
                <a:latin typeface="Georgia"/>
              </a:rPr>
              <a:t>  Can a cheap graph heuristic decide where expensive PENCIL inference is worth paying for?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" y="1837943"/>
            <a:ext cx="749808" cy="502920"/>
          </a:xfrm>
          <a:prstGeom prst="roundRect">
            <a:avLst>
              <a:gd name="adj" fmla="val 8000"/>
            </a:avLst>
          </a:prstGeom>
          <a:solidFill>
            <a:srgbClr val="F5EADA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1892807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B46318"/>
                </a:solidFill>
                <a:latin typeface="Aptos"/>
              </a:rPr>
              <a:t>1  AA rank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112264"/>
            <a:ext cx="69494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34952"/>
                </a:solidFill>
                <a:latin typeface="Aptos"/>
              </a:rPr>
              <a:t>CPU &lt;1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1984248"/>
            <a:ext cx="1097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77D85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" y="1837943"/>
            <a:ext cx="749808" cy="502920"/>
          </a:xfrm>
          <a:prstGeom prst="roundRect">
            <a:avLst>
              <a:gd name="adj" fmla="val 8000"/>
            </a:avLst>
          </a:prstGeom>
          <a:solidFill>
            <a:srgbClr val="F4E7E9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1892807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9D1B32"/>
                </a:solidFill>
                <a:latin typeface="Aptos"/>
              </a:rPr>
              <a:t>2  top-k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2112264"/>
            <a:ext cx="69494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34952"/>
                </a:solidFill>
                <a:latin typeface="Aptos"/>
              </a:rPr>
              <a:t>shortlist 0–100%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1984248"/>
            <a:ext cx="1097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77D85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85415" y="1837943"/>
            <a:ext cx="749808" cy="502920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31135" y="1892807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657"/>
                </a:solidFill>
                <a:latin typeface="Aptos"/>
              </a:rPr>
              <a:t>3  PENCIL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7" y="2112264"/>
            <a:ext cx="69494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34952"/>
                </a:solidFill>
                <a:latin typeface="Aptos"/>
              </a:rPr>
              <a:t>re-rank with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261518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9D1B32"/>
                </a:solidFill>
                <a:latin typeface="Aptos"/>
              </a:rPr>
              <a:t>FREE-GPU REPRODUCTION  ·  PAPER USED 4–8× A100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6" y="2834640"/>
            <a:ext cx="841248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6616" y="2834640"/>
            <a:ext cx="841248" cy="36576"/>
          </a:xfrm>
          <a:prstGeom prst="rect">
            <a:avLst/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94436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3657"/>
                </a:solidFill>
                <a:latin typeface="Georgia"/>
              </a:rPr>
              <a:t>44.00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" y="3191256"/>
            <a:ext cx="7680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71A1F"/>
                </a:solidFill>
                <a:latin typeface="Aptos"/>
              </a:rPr>
              <a:t>Cora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" y="3364992"/>
            <a:ext cx="7680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77D85"/>
                </a:solidFill>
                <a:latin typeface="Consolas"/>
              </a:rPr>
              <a:t>paper 42.23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80160" y="2834640"/>
            <a:ext cx="841248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80160" y="2834640"/>
            <a:ext cx="841248" cy="36576"/>
          </a:xfrm>
          <a:prstGeom prst="rect">
            <a:avLst/>
          </a:prstGeom>
          <a:solidFill>
            <a:srgbClr val="0F7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35024" y="294436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F7670"/>
                </a:solidFill>
                <a:latin typeface="Georgia"/>
              </a:rPr>
              <a:t>50.46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16736" y="3191256"/>
            <a:ext cx="7680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71A1F"/>
                </a:solidFill>
                <a:latin typeface="Aptos"/>
              </a:rPr>
              <a:t>Citeseer test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16736" y="3364992"/>
            <a:ext cx="7680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77D85"/>
                </a:solidFill>
                <a:latin typeface="Consolas"/>
              </a:rPr>
              <a:t>paper 47.51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203704" y="2834640"/>
            <a:ext cx="841248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03704" y="2834640"/>
            <a:ext cx="841248" cy="3657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58568" y="294436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9D1B32"/>
                </a:solidFill>
                <a:latin typeface="Georgia"/>
              </a:rPr>
              <a:t>112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40280" y="3191256"/>
            <a:ext cx="7680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71A1F"/>
                </a:solidFill>
                <a:latin typeface="Aptos"/>
              </a:rPr>
              <a:t>score dumps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40280" y="3364992"/>
            <a:ext cx="7680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77D85"/>
                </a:solidFill>
                <a:latin typeface="Consolas"/>
              </a:rPr>
              <a:t>4 regimes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3749039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Aptos"/>
              </a:rPr>
              <a:t>EXPERIMENTAL AUDIT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6616" y="3968496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078224"/>
            <a:ext cx="749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03657"/>
                </a:solidFill>
                <a:latin typeface="Aptos"/>
              </a:rPr>
              <a:t>4 regimes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7864" y="4078224"/>
            <a:ext cx="17739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5" b="0" i="0">
                <a:solidFill>
                  <a:srgbClr val="434952"/>
                </a:solidFill>
                <a:latin typeface="Aptos"/>
              </a:rPr>
              <a:t>Cora + Citeseer × shared-pool + HeaRT hard negatives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" y="4361688"/>
            <a:ext cx="2523744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4425696"/>
            <a:ext cx="749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03657"/>
                </a:solidFill>
                <a:latin typeface="Aptos"/>
              </a:rPr>
              <a:t>Validation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864" y="4425696"/>
            <a:ext cx="17739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5" b="0" i="0">
                <a:solidFill>
                  <a:srgbClr val="434952"/>
                </a:solidFill>
                <a:latin typeface="Aptos"/>
              </a:rPr>
              <a:t>select (k, s) under 5%, 10%, 25%, 50%, 75%, 100% caps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" y="4709159"/>
            <a:ext cx="2523744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" y="4773168"/>
            <a:ext cx="749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03657"/>
                </a:solidFill>
                <a:latin typeface="Aptos"/>
              </a:rPr>
              <a:t>Bias checks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97864" y="4773168"/>
            <a:ext cx="17739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5" b="0" i="0">
                <a:solidFill>
                  <a:srgbClr val="434952"/>
                </a:solidFill>
                <a:latin typeface="Aptos"/>
              </a:rPr>
              <a:t>fixed float32 score collapse and shortlist tie-position bias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" y="533095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Aptos"/>
              </a:rPr>
              <a:t>ROAD TO FINAL SUBMISSION  ·  26 NOV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6616" y="5550408"/>
            <a:ext cx="2743200" cy="850392"/>
          </a:xfrm>
          <a:prstGeom prst="roundRect">
            <a:avLst>
              <a:gd name="adj" fmla="val 8000"/>
            </a:avLst>
          </a:prstGeom>
          <a:solidFill>
            <a:srgbClr val="F5EADA"/>
          </a:solidFill>
          <a:ln w="8890">
            <a:solidFill>
              <a:srgbClr val="DCB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5650992"/>
            <a:ext cx="25054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20" b="1" i="0">
                <a:solidFill>
                  <a:srgbClr val="B46318"/>
                </a:solidFill>
                <a:latin typeface="Aptos"/>
              </a:rPr>
              <a:t>1  Training law</a:t>
            </a:r>
            <a:r>
              <a:rPr sz="680" b="0" i="0">
                <a:solidFill>
                  <a:srgbClr val="434952"/>
                </a:solidFill>
                <a:latin typeface="Aptos"/>
              </a:rPr>
              <a:t>  93% of final Cora MRR is reached by epoch 42/150.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6318"/>
                </a:solidFill>
                <a:latin typeface="Aptos"/>
              </a:rPr>
              <a:t>2  Deliverables</a:t>
            </a:r>
            <a:r>
              <a:rPr sz="680" b="0" i="0">
                <a:solidFill>
                  <a:srgbClr val="434952"/>
                </a:solidFill>
                <a:latin typeface="Aptos"/>
              </a:rPr>
              <a:t>  closed-form selector · latency/VRAM Pareto · final report · PPT video · reproducible code.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46120" y="1051560"/>
            <a:ext cx="3941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Aptos"/>
              </a:rPr>
              <a:t>02  FOUR EMPIRICAL COMPUTE-ALLOCATION LAWS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46120" y="1280160"/>
            <a:ext cx="3941063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46120" y="1280160"/>
            <a:ext cx="41148" cy="1024128"/>
          </a:xfrm>
          <a:prstGeom prst="rect">
            <a:avLst/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383279" y="1444751"/>
            <a:ext cx="384048" cy="384048"/>
          </a:xfrm>
          <a:prstGeom prst="ellipse">
            <a:avLst/>
          </a:prstGeom>
          <a:solidFill>
            <a:srgbClr val="E8EDF3"/>
          </a:solidFill>
          <a:ln w="10160">
            <a:solidFill>
              <a:srgbClr val="203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83279" y="1508760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03657"/>
                </a:solidFill>
                <a:latin typeface="Georgia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77056" y="139903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71A1F"/>
                </a:solidFill>
                <a:latin typeface="Georgia"/>
              </a:rPr>
              <a:t>Half fanout is enough in 3 of 4 regimes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77056" y="1673351"/>
            <a:ext cx="317296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5" b="0" i="0">
                <a:solidFill>
                  <a:srgbClr val="434952"/>
                </a:solidFill>
                <a:latin typeface="Aptos"/>
              </a:rPr>
              <a:t>At s=2×10 (~65% GPU), PENCIL matches Cora Pool (42.9 vs 43.7) and beats full s=2×20 on Citeseer Pool (51.4 vs 49.7) and Cora HeaRT (14.3 vs 13.3). Citeseer HeaRT is the exception: 14.2 vs 17.8.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46120" y="2450592"/>
            <a:ext cx="3941063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246120" y="2450592"/>
            <a:ext cx="41148" cy="1024128"/>
          </a:xfrm>
          <a:prstGeom prst="rect">
            <a:avLst/>
          </a:prstGeom>
          <a:solidFill>
            <a:srgbClr val="0F7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383279" y="2615184"/>
            <a:ext cx="384048" cy="384048"/>
          </a:xfrm>
          <a:prstGeom prst="ellipse">
            <a:avLst/>
          </a:prstGeom>
          <a:solidFill>
            <a:srgbClr val="E4F0ED"/>
          </a:solidFill>
          <a:ln w="10160">
            <a:solidFill>
              <a:srgbClr val="0F7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83279" y="2679192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F7670"/>
                </a:solidFill>
                <a:latin typeface="Georgia"/>
              </a:rPr>
              <a:t>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77056" y="2569464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71A1F"/>
                </a:solidFill>
                <a:latin typeface="Georgia"/>
              </a:rPr>
              <a:t>A ≤10% GPU hybrid beats heuristics everywhere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77056" y="2843784"/>
            <a:ext cx="317296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5" b="0" i="0">
                <a:solidFill>
                  <a:srgbClr val="434952"/>
                </a:solidFill>
                <a:latin typeface="Aptos"/>
              </a:rPr>
              <a:t>Validation-selected (k, s) improves over Adamic–Adar in all four tests: 33.1→38.4 on Cora Pool, 31.5→34.7 on Citeseer Pool, 12.0→12.8 on Cora HeaRT, and 11.0→13.8 on Citeseer HeaRT.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46120" y="3621024"/>
            <a:ext cx="3941063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46120" y="3621024"/>
            <a:ext cx="41148" cy="1024128"/>
          </a:xfrm>
          <a:prstGeom prst="rect">
            <a:avLst/>
          </a:prstGeom>
          <a:solidFill>
            <a:srgbClr val="B46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383279" y="3785615"/>
            <a:ext cx="384048" cy="384048"/>
          </a:xfrm>
          <a:prstGeom prst="ellipse">
            <a:avLst/>
          </a:prstGeom>
          <a:solidFill>
            <a:srgbClr val="F5EADA"/>
          </a:solidFill>
          <a:ln w="10160">
            <a:solidFill>
              <a:srgbClr val="B46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83279" y="3849624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6318"/>
                </a:solidFill>
                <a:latin typeface="Georgia"/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77056" y="3739896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71A1F"/>
                </a:solidFill>
                <a:latin typeface="Georgia"/>
              </a:rPr>
              <a:t>PENCIL pays off where graph structure is blind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77056" y="4014215"/>
            <a:ext cx="317296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5" b="0" i="0">
                <a:solidFill>
                  <a:srgbClr val="434952"/>
                </a:solidFill>
                <a:latin typeface="Aptos"/>
              </a:rPr>
              <a:t>Re-ranking only the top 10% changes almost nothing because AA already ranks easy links highly. The useful compute lies in the zero-common-neighbour tail: 57.3% of true Cora test links have zero shared neighbours.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46120" y="4791456"/>
            <a:ext cx="3941063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46120" y="4791456"/>
            <a:ext cx="41148" cy="1024128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383279" y="4956048"/>
            <a:ext cx="384048" cy="384048"/>
          </a:xfrm>
          <a:prstGeom prst="ellipse">
            <a:avLst/>
          </a:prstGeom>
          <a:solidFill>
            <a:srgbClr val="F4E7E9"/>
          </a:solidFill>
          <a:ln w="10160">
            <a:solidFill>
              <a:srgbClr val="9D1B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83279" y="5020056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D1B32"/>
                </a:solidFill>
                <a:latin typeface="Georgia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77056" y="4910328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71A1F"/>
                </a:solidFill>
                <a:latin typeface="Georgia"/>
              </a:rPr>
              <a:t>Cross-graph rules can beat noisy local selection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77056" y="5184648"/>
            <a:ext cx="317296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5" b="0" i="0">
                <a:solidFill>
                  <a:srgbClr val="434952"/>
                </a:solidFill>
                <a:latin typeface="Aptos"/>
              </a:rPr>
              <a:t>Applying Cora's validation-chosen rule unchanged to Citeseer beats Citeseer's own validation pick at every cap ≤50%; at the 25% cap, transferred MRR is 44.9 versus 37.9 from local selection.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46120" y="5989320"/>
            <a:ext cx="3941063" cy="411480"/>
          </a:xfrm>
          <a:prstGeom prst="roundRect">
            <a:avLst>
              <a:gd name="adj" fmla="val 8000"/>
            </a:avLst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392424" y="6080760"/>
            <a:ext cx="36484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E8EDF3"/>
                </a:solidFill>
                <a:latin typeface="Aptos"/>
              </a:rPr>
              <a:t>INTERIM LAW  </a:t>
            </a:r>
            <a:r>
              <a:rPr sz="760" b="1" i="0">
                <a:solidFill>
                  <a:srgbClr val="FFFFFF"/>
                </a:solidFill>
                <a:latin typeface="Aptos"/>
              </a:rPr>
              <a:t>reduce fanout first; reserve full context for the hard regime.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33488" y="1051560"/>
            <a:ext cx="4498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Aptos"/>
              </a:rPr>
              <a:t>03  EVIDENCE ACROSS FOUR TEST REGIMES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333488" y="1280160"/>
            <a:ext cx="4498848" cy="1755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ig_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352544" cy="1316736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470648" y="2743200"/>
            <a:ext cx="42245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777D85"/>
                </a:solidFill>
                <a:latin typeface="Aptos"/>
              </a:rPr>
              <a:t>Shortlist saturation  ·  compute Pareto frontiers  ·  HeaRT hard-negative stress test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33488" y="3191256"/>
            <a:ext cx="4498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Aptos"/>
              </a:rPr>
              <a:t>VALIDATION-SELECTED OPERATING POINTS  ·  TEST MRR ×100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333488" y="3419856"/>
            <a:ext cx="4498848" cy="365760"/>
          </a:xfrm>
          <a:prstGeom prst="rect">
            <a:avLst/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370063" y="3483864"/>
            <a:ext cx="115214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Aptos"/>
              </a:rPr>
              <a:t>Policy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95359" y="3483864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Aptos"/>
              </a:rPr>
              <a:t>Cora
Pool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400032" y="3483864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Aptos"/>
              </a:rPr>
              <a:t>Citeseer
Pool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204704" y="3483864"/>
            <a:ext cx="749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Aptos"/>
              </a:rPr>
              <a:t>Cora
HeaRT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27664" y="3483864"/>
            <a:ext cx="76809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Aptos"/>
              </a:rPr>
              <a:t>Citeseer
HeaRT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333488" y="3785616"/>
            <a:ext cx="4498848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333488" y="4066336"/>
            <a:ext cx="449884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9208" y="385419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71A1F"/>
                </a:solidFill>
                <a:latin typeface="Aptos"/>
              </a:rPr>
              <a:t>Chance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04504" y="3854196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1.3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09176" y="3854196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1.5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13848" y="3854196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1.4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36808" y="3854196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1.4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33488" y="4073652"/>
            <a:ext cx="4498848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333488" y="4354372"/>
            <a:ext cx="449884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379208" y="414223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71A1F"/>
                </a:solidFill>
                <a:latin typeface="Aptos"/>
              </a:rPr>
              <a:t>AA · 0% GPU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04504" y="4142232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33.1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409176" y="4142232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31.5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13848" y="4142232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12.0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36808" y="4142232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11.0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333488" y="4361688"/>
            <a:ext cx="4498848" cy="288036"/>
          </a:xfrm>
          <a:prstGeom prst="rect">
            <a:avLst/>
          </a:prstGeom>
          <a:solidFill>
            <a:srgbClr val="F5E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333488" y="4642408"/>
            <a:ext cx="449884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379208" y="44302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71A1F"/>
                </a:solidFill>
                <a:latin typeface="Aptos"/>
              </a:rPr>
              <a:t>Hybrid · ≤10%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04504" y="4430268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B46318"/>
                </a:solidFill>
                <a:latin typeface="Consolas"/>
              </a:rPr>
              <a:t>38.4 · 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409176" y="4430268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71A1F"/>
                </a:solidFill>
                <a:latin typeface="Consolas"/>
              </a:rPr>
              <a:t>34.7 · 9%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13848" y="4430268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71A1F"/>
                </a:solidFill>
                <a:latin typeface="Consolas"/>
              </a:rPr>
              <a:t>12.8 · 0.4%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36808" y="443026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B46318"/>
                </a:solidFill>
                <a:latin typeface="Consolas"/>
              </a:rPr>
              <a:t>13.8 · 8%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333488" y="4649724"/>
            <a:ext cx="4498848" cy="288036"/>
          </a:xfrm>
          <a:prstGeom prst="rect">
            <a:avLst/>
          </a:prstGeom>
          <a:solidFill>
            <a:srgbClr val="E4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333488" y="4930444"/>
            <a:ext cx="449884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79208" y="47183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71A1F"/>
                </a:solidFill>
                <a:latin typeface="Aptos"/>
              </a:rPr>
              <a:t>Half · s=2×10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04504" y="4718304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71A1F"/>
                </a:solidFill>
                <a:latin typeface="Consolas"/>
              </a:rPr>
              <a:t>42.9 · 67%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09176" y="4718304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7670"/>
                </a:solidFill>
                <a:latin typeface="Consolas"/>
              </a:rPr>
              <a:t>51.4 · 63%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13848" y="4718304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7670"/>
                </a:solidFill>
                <a:latin typeface="Consolas"/>
              </a:rPr>
              <a:t>14.3 · 65%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36808" y="4718304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71A1F"/>
                </a:solidFill>
                <a:latin typeface="Consolas"/>
              </a:rPr>
              <a:t>14.2 · 69%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333488" y="4937760"/>
            <a:ext cx="4498848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333488" y="5218480"/>
            <a:ext cx="449884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379208" y="500634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71A1F"/>
                </a:solidFill>
                <a:latin typeface="Aptos"/>
              </a:rPr>
              <a:t>Full · s=2×20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04504" y="5006340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43.7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09176" y="5006340"/>
            <a:ext cx="71323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49.7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213848" y="5006340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13.3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36808" y="5006340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71A1F"/>
                </a:solidFill>
                <a:latin typeface="Consolas"/>
              </a:rPr>
              <a:t>17.8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333488" y="5225796"/>
            <a:ext cx="4498848" cy="16459"/>
          </a:xfrm>
          <a:prstGeom prst="rect">
            <a:avLst/>
          </a:prstGeom>
          <a:solidFill>
            <a:srgbClr val="171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333488" y="5367528"/>
            <a:ext cx="4498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Aptos"/>
              </a:rPr>
              <a:t>TRANSFER + RESOURCE EVIDENCE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333488" y="5577840"/>
            <a:ext cx="4498848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333488" y="5577840"/>
            <a:ext cx="41148" cy="822960"/>
          </a:xfrm>
          <a:prstGeom prst="rect">
            <a:avLst/>
          </a:prstGeom>
          <a:solidFill>
            <a:srgbClr val="0F7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470648" y="5669280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0F7670"/>
                </a:solidFill>
                <a:latin typeface="Aptos"/>
              </a:rPr>
              <a:t>Cora → Citeseer</a:t>
            </a:r>
            <a:r>
              <a:rPr sz="670" b="0" i="0">
                <a:solidFill>
                  <a:srgbClr val="434952"/>
                </a:solidFill>
                <a:latin typeface="Aptos"/>
              </a:rPr>
              <a:t>  At the 25% cap, the transferred rule reaches 44.9 MRR, beating Citeseer's own noisy validation pick (37.9).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646919" y="5687568"/>
            <a:ext cx="9144" cy="502920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793224" y="5669280"/>
            <a:ext cx="186537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657"/>
                </a:solidFill>
                <a:latin typeface="Aptos"/>
              </a:rPr>
              <a:t>Peak VRAM · Cora HeaRT</a:t>
            </a:r>
            <a:r>
              <a:rPr sz="670" b="0" i="0">
                <a:solidFill>
                  <a:srgbClr val="434952"/>
                </a:solidFill>
                <a:latin typeface="Aptos"/>
              </a:rPr>
              <a:t>  2,219 MB (2×20) → 1,347 MB (2×10) → 558 MB (2×2).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56616" y="6565392"/>
            <a:ext cx="11475720" cy="10972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56616" y="6629400"/>
            <a:ext cx="11475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77D85"/>
                </a:solidFill>
                <a:latin typeface="Consolas"/>
              </a:rPr>
              <a:t>Reproducible code + 112 score dumps: github.com/Ask-812/da4022-pencil-budget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