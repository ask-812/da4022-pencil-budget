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9D1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7223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9D1B32"/>
                </a:solidFill>
                <a:latin typeface="Segoe UI"/>
              </a:rPr>
              <a:t>DA4022 mid-project report  ·  PENCIL extension  ·  15 October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56616"/>
            <a:ext cx="74980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 i="0">
                <a:solidFill>
                  <a:srgbClr val="171A1F"/>
                </a:solidFill>
                <a:latin typeface="Georgia"/>
              </a:rPr>
              <a:t>How Much PENCIL Can You Afford?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749808"/>
            <a:ext cx="749807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34952"/>
                </a:solidFill>
                <a:latin typeface="Segoe UI"/>
              </a:rPr>
              <a:t>Compute allocation for link prediction through candidate shortlisting and smaller sampled subgraphs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237744"/>
            <a:ext cx="3886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777D85"/>
                </a:solidFill>
                <a:latin typeface="Segoe UI"/>
              </a:rPr>
              <a:t>Amit Kumar  ·  Ashmit Satpute  ·  Arnav Kshirsagar  ·  Pranav Shalya  ·  Atharv Wankhede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78408"/>
            <a:ext cx="11411712" cy="10972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115568"/>
            <a:ext cx="367588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71A1F"/>
                </a:solidFill>
                <a:latin typeface="Georgia"/>
              </a:rPr>
              <a:t>What we are testing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1399032"/>
            <a:ext cx="3675887" cy="12252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D4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399032"/>
            <a:ext cx="41148" cy="1225296"/>
          </a:xfrm>
          <a:prstGeom prst="rect">
            <a:avLst/>
          </a:prstGeom>
          <a:solidFill>
            <a:srgbClr val="9D1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1499616"/>
            <a:ext cx="342899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434952"/>
                </a:solidFill>
                <a:latin typeface="Segoe UI"/>
              </a:rPr>
              <a:t>We rank candidate links with Adamic–Adar, run PENCIL only on the top-k candidates, and reduce the sampled subgraph budget s. </a:t>
            </a:r>
            <a:r>
              <a:rPr sz="919" b="1" i="0">
                <a:solidFill>
                  <a:srgbClr val="171A1F"/>
                </a:solidFill>
                <a:latin typeface="Segoe UI"/>
              </a:rPr>
              <a:t>Sweeping (k, s) measures the accuracy retained at each GPU budget without retraining.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" y="2185416"/>
            <a:ext cx="1042415" cy="329184"/>
          </a:xfrm>
          <a:prstGeom prst="roundRect">
            <a:avLst>
              <a:gd name="adj" fmla="val 8000"/>
            </a:avLst>
          </a:prstGeom>
          <a:solidFill>
            <a:srgbClr val="F5EADA"/>
          </a:solidFill>
          <a:ln w="8890">
            <a:solidFill>
              <a:srgbClr val="D9D4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217420"/>
            <a:ext cx="93268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0" b="1" i="0">
                <a:solidFill>
                  <a:srgbClr val="B46318"/>
                </a:solidFill>
                <a:latin typeface="Segoe UI"/>
              </a:rPr>
              <a:t>1  AA ranking</a:t>
            </a:r>
            <a:r>
              <a:rPr sz="730" b="0" i="0">
                <a:solidFill>
                  <a:srgbClr val="434952"/>
                </a:solidFill>
                <a:latin typeface="Segoe UI"/>
              </a:rPr>
              <a:t>  ·  CPU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258568"/>
            <a:ext cx="118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77D85"/>
                </a:solidFill>
                <a:latin typeface="Segoe U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73352" y="2185416"/>
            <a:ext cx="1042415" cy="329184"/>
          </a:xfrm>
          <a:prstGeom prst="roundRect">
            <a:avLst>
              <a:gd name="adj" fmla="val 8000"/>
            </a:avLst>
          </a:prstGeom>
          <a:solidFill>
            <a:srgbClr val="F4E7E9"/>
          </a:solidFill>
          <a:ln w="8890">
            <a:solidFill>
              <a:srgbClr val="D9D4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28216" y="2217420"/>
            <a:ext cx="93268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0" b="1" i="0">
                <a:solidFill>
                  <a:srgbClr val="9D1B32"/>
                </a:solidFill>
                <a:latin typeface="Segoe UI"/>
              </a:rPr>
              <a:t>2  Top-k shortlist</a:t>
            </a:r>
            <a:r>
              <a:rPr sz="730" b="0" i="0">
                <a:solidFill>
                  <a:srgbClr val="434952"/>
                </a:solidFill>
                <a:latin typeface="Segoe UI"/>
              </a:rPr>
              <a:t>  ·  candidate count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15768" y="2258568"/>
            <a:ext cx="118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77D85"/>
                </a:solidFill>
                <a:latin typeface="Segoe U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34640" y="2185416"/>
            <a:ext cx="1042415" cy="329184"/>
          </a:xfrm>
          <a:prstGeom prst="roundRect">
            <a:avLst>
              <a:gd name="adj" fmla="val 8000"/>
            </a:avLst>
          </a:prstGeom>
          <a:solidFill>
            <a:srgbClr val="E8EDF3"/>
          </a:solidFill>
          <a:ln w="8890">
            <a:solidFill>
              <a:srgbClr val="D9D4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89504" y="2217420"/>
            <a:ext cx="93268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0" b="1" i="0">
                <a:solidFill>
                  <a:srgbClr val="203657"/>
                </a:solidFill>
                <a:latin typeface="Segoe UI"/>
              </a:rPr>
              <a:t>3  PENCIL</a:t>
            </a:r>
            <a:r>
              <a:rPr sz="730" b="0" i="0">
                <a:solidFill>
                  <a:srgbClr val="434952"/>
                </a:solidFill>
                <a:latin typeface="Segoe UI"/>
              </a:rPr>
              <a:t>  ·  context budget 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2761488"/>
            <a:ext cx="367588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71A1F"/>
                </a:solidFill>
                <a:latin typeface="Georgia"/>
              </a:rPr>
              <a:t>Experiment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" y="3054096"/>
            <a:ext cx="367588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D4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154680"/>
            <a:ext cx="71323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1" i="0">
                <a:solidFill>
                  <a:srgbClr val="203657"/>
                </a:solidFill>
                <a:latin typeface="Segoe UI"/>
              </a:rPr>
              <a:t>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43584" y="3154680"/>
            <a:ext cx="26517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434952"/>
                </a:solidFill>
                <a:latin typeface="Segoe UI"/>
              </a:rPr>
              <a:t>Cora and Citeseer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" y="3346704"/>
            <a:ext cx="71323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1" i="0">
                <a:solidFill>
                  <a:srgbClr val="203657"/>
                </a:solidFill>
                <a:latin typeface="Segoe UI"/>
              </a:rPr>
              <a:t>Evaluation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43584" y="3346704"/>
            <a:ext cx="26517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434952"/>
                </a:solidFill>
                <a:latin typeface="Segoe UI"/>
              </a:rPr>
              <a:t>shared negative pool and HeaRT hard negatives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3538728"/>
            <a:ext cx="71323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1" i="0">
                <a:solidFill>
                  <a:srgbClr val="203657"/>
                </a:solidFill>
                <a:latin typeface="Segoe UI"/>
              </a:rPr>
              <a:t>Selection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43584" y="3538728"/>
            <a:ext cx="26517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434952"/>
                </a:solidFill>
                <a:latin typeface="Segoe UI"/>
              </a:rPr>
              <a:t>(k, s) chosen on validation data under fixed compute caps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" y="3730752"/>
            <a:ext cx="71323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1" i="0">
                <a:solidFill>
                  <a:srgbClr val="203657"/>
                </a:solidFill>
                <a:latin typeface="Segoe UI"/>
              </a:rPr>
              <a:t>Recorded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43584" y="3730752"/>
            <a:ext cx="26517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434952"/>
                </a:solidFill>
                <a:latin typeface="Segoe UI"/>
              </a:rPr>
              <a:t>test MRR, measured T4 time, peak VRAM, three seeds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" y="4133087"/>
            <a:ext cx="367588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71A1F"/>
                </a:solidFill>
                <a:latin typeface="Georgia"/>
              </a:rPr>
              <a:t>Reproduction check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4048" y="4416552"/>
            <a:ext cx="1124712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D4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9768" y="4489704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203657"/>
                </a:solidFill>
                <a:latin typeface="Georgia"/>
              </a:rPr>
              <a:t>44.00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4983" y="4443984"/>
            <a:ext cx="4297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171A1F"/>
                </a:solidFill>
                <a:latin typeface="Segoe UI"/>
              </a:rPr>
              <a:t>Cora test</a:t>
            </a:r>
            <a:r>
              <a:rPr sz="700" b="0" i="0">
                <a:solidFill>
                  <a:srgbClr val="777D85"/>
                </a:solidFill>
                <a:latin typeface="Segoe UI"/>
              </a:rPr>
              <a:t>
paper 42.23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627632" y="4416552"/>
            <a:ext cx="1124712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D4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673352" y="4489704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0F7670"/>
                </a:solidFill>
                <a:latin typeface="Georgia"/>
              </a:rPr>
              <a:t>50.46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58568" y="4443984"/>
            <a:ext cx="4297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171A1F"/>
                </a:solidFill>
                <a:latin typeface="Segoe UI"/>
              </a:rPr>
              <a:t>Citeseer test</a:t>
            </a:r>
            <a:r>
              <a:rPr sz="700" b="0" i="0">
                <a:solidFill>
                  <a:srgbClr val="777D85"/>
                </a:solidFill>
                <a:latin typeface="Segoe UI"/>
              </a:rPr>
              <a:t>
paper 47.51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871216" y="4416552"/>
            <a:ext cx="1124712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D4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16936" y="4489704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9D1B32"/>
                </a:solidFill>
                <a:latin typeface="Georgia"/>
              </a:rPr>
              <a:t>112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02152" y="4443984"/>
            <a:ext cx="4297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171A1F"/>
                </a:solidFill>
                <a:latin typeface="Segoe UI"/>
              </a:rPr>
              <a:t>score dumps</a:t>
            </a:r>
            <a:r>
              <a:rPr sz="700" b="0" i="0">
                <a:solidFill>
                  <a:srgbClr val="777D85"/>
                </a:solidFill>
                <a:latin typeface="Segoe UI"/>
              </a:rPr>
              <a:t>
four regimes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79392" y="1115568"/>
            <a:ext cx="75163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71A1F"/>
                </a:solidFill>
                <a:latin typeface="Georgia"/>
              </a:rPr>
              <a:t>Results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79392" y="1399032"/>
            <a:ext cx="7516368" cy="17190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D4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fig_mid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2544" y="1472184"/>
            <a:ext cx="7370064" cy="1572768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279392" y="3273552"/>
            <a:ext cx="75163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71A1F"/>
                </a:solidFill>
                <a:latin typeface="Georgia"/>
              </a:rPr>
              <a:t>Test MRR at selected budgets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79392" y="3557016"/>
            <a:ext cx="7516368" cy="274320"/>
          </a:xfrm>
          <a:prstGeom prst="rect">
            <a:avLst/>
          </a:prstGeom>
          <a:solidFill>
            <a:srgbClr val="2036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25112" y="3625596"/>
            <a:ext cx="15361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Policy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52744" y="3625596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Cora Pool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97496" y="3625596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Citeseer Pool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78824" y="3625596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Cora HeaRT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41864" y="3625596"/>
            <a:ext cx="140817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Citeseer HeaRT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79392" y="3831336"/>
            <a:ext cx="7516368" cy="2240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279392" y="4048048"/>
            <a:ext cx="7516368" cy="7315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325112" y="3881628"/>
            <a:ext cx="15361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171A1F"/>
                </a:solidFill>
                <a:latin typeface="Segoe UI"/>
              </a:rPr>
              <a:t>Chance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52744" y="3881628"/>
            <a:ext cx="135331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71A1F"/>
                </a:solidFill>
                <a:latin typeface="Segoe UI"/>
              </a:rPr>
              <a:t>1.3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97496" y="3881628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71A1F"/>
                </a:solidFill>
                <a:latin typeface="Segoe UI"/>
              </a:rPr>
              <a:t>1.5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878824" y="3881628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71A1F"/>
                </a:solidFill>
                <a:latin typeface="Segoe UI"/>
              </a:rPr>
              <a:t>1.4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41864" y="3881628"/>
            <a:ext cx="140817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71A1F"/>
                </a:solidFill>
                <a:latin typeface="Segoe UI"/>
              </a:rPr>
              <a:t>1.4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279392" y="4055364"/>
            <a:ext cx="7516368" cy="2240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279392" y="4272076"/>
            <a:ext cx="7516368" cy="7315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325112" y="4105656"/>
            <a:ext cx="15361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171A1F"/>
                </a:solidFill>
                <a:latin typeface="Segoe UI"/>
              </a:rPr>
              <a:t>Adamic–Adar · 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52744" y="4105656"/>
            <a:ext cx="135331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71A1F"/>
                </a:solidFill>
                <a:latin typeface="Segoe UI"/>
              </a:rPr>
              <a:t>33.1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97496" y="4105656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71A1F"/>
                </a:solidFill>
                <a:latin typeface="Segoe UI"/>
              </a:rPr>
              <a:t>31.5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78824" y="4105656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71A1F"/>
                </a:solidFill>
                <a:latin typeface="Segoe UI"/>
              </a:rPr>
              <a:t>12.0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41864" y="4105656"/>
            <a:ext cx="140817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71A1F"/>
                </a:solidFill>
                <a:latin typeface="Segoe UI"/>
              </a:rPr>
              <a:t>11.0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79392" y="4279392"/>
            <a:ext cx="7516368" cy="224028"/>
          </a:xfrm>
          <a:prstGeom prst="rect">
            <a:avLst/>
          </a:prstGeom>
          <a:solidFill>
            <a:srgbClr val="F5EA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279392" y="4496104"/>
            <a:ext cx="7516368" cy="7315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325112" y="4329684"/>
            <a:ext cx="15361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171A1F"/>
                </a:solidFill>
                <a:latin typeface="Segoe UI"/>
              </a:rPr>
              <a:t>Hybrid · ≤10%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52744" y="4329684"/>
            <a:ext cx="135331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B46318"/>
                </a:solidFill>
                <a:latin typeface="Segoe UI"/>
              </a:rPr>
              <a:t>38.4 · 7%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97496" y="4329684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171A1F"/>
                </a:solidFill>
                <a:latin typeface="Segoe UI"/>
              </a:rPr>
              <a:t>34.7 · 9%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878824" y="4329684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171A1F"/>
                </a:solidFill>
                <a:latin typeface="Segoe UI"/>
              </a:rPr>
              <a:t>12.8 · 0.4%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341864" y="4329684"/>
            <a:ext cx="140817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B46318"/>
                </a:solidFill>
                <a:latin typeface="Segoe UI"/>
              </a:rPr>
              <a:t>13.8 · 8%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279392" y="4503420"/>
            <a:ext cx="7516368" cy="224028"/>
          </a:xfrm>
          <a:prstGeom prst="rect">
            <a:avLst/>
          </a:prstGeom>
          <a:solidFill>
            <a:srgbClr val="E4F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279392" y="4720132"/>
            <a:ext cx="7516368" cy="7315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325112" y="4553712"/>
            <a:ext cx="15361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171A1F"/>
                </a:solidFill>
                <a:latin typeface="Segoe UI"/>
              </a:rPr>
              <a:t>PENCIL · s=2×10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952744" y="4553712"/>
            <a:ext cx="135331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171A1F"/>
                </a:solidFill>
                <a:latin typeface="Segoe UI"/>
              </a:rPr>
              <a:t>42.9 · 67%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97496" y="4553712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7670"/>
                </a:solidFill>
                <a:latin typeface="Segoe UI"/>
              </a:rPr>
              <a:t>51.4 · 63%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878824" y="4553712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7670"/>
                </a:solidFill>
                <a:latin typeface="Segoe UI"/>
              </a:rPr>
              <a:t>14.3 · 65%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341864" y="4553712"/>
            <a:ext cx="140817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171A1F"/>
                </a:solidFill>
                <a:latin typeface="Segoe UI"/>
              </a:rPr>
              <a:t>14.2 · 69%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279392" y="4727448"/>
            <a:ext cx="7516368" cy="2240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279392" y="4944160"/>
            <a:ext cx="7516368" cy="7315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25112" y="4777740"/>
            <a:ext cx="15361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171A1F"/>
                </a:solidFill>
                <a:latin typeface="Segoe UI"/>
              </a:rPr>
              <a:t>PENCIL · s=2×20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52744" y="4777740"/>
            <a:ext cx="135331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71A1F"/>
                </a:solidFill>
                <a:latin typeface="Segoe UI"/>
              </a:rPr>
              <a:t>43.7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397496" y="4777740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71A1F"/>
                </a:solidFill>
                <a:latin typeface="Segoe UI"/>
              </a:rPr>
              <a:t>49.7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878824" y="4777740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71A1F"/>
                </a:solidFill>
                <a:latin typeface="Segoe UI"/>
              </a:rPr>
              <a:t>13.3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41864" y="4777740"/>
            <a:ext cx="140817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71A1F"/>
                </a:solidFill>
                <a:latin typeface="Segoe UI"/>
              </a:rPr>
              <a:t>17.8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279392" y="4951476"/>
            <a:ext cx="7516368" cy="16459"/>
          </a:xfrm>
          <a:prstGeom prst="rect">
            <a:avLst/>
          </a:prstGeom>
          <a:solidFill>
            <a:srgbClr val="171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84048" y="4983480"/>
            <a:ext cx="11411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71A1F"/>
                </a:solidFill>
                <a:latin typeface="Georgia"/>
              </a:rPr>
              <a:t>What the sweep shows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84048" y="5266944"/>
            <a:ext cx="2770632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D4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84048" y="5266944"/>
            <a:ext cx="2770632" cy="41148"/>
          </a:xfrm>
          <a:prstGeom prst="rect">
            <a:avLst/>
          </a:prstGeom>
          <a:solidFill>
            <a:srgbClr val="2036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21207" y="5394960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03657"/>
                </a:solidFill>
                <a:latin typeface="Georgia"/>
              </a:rPr>
              <a:t>01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9536" y="5376672"/>
            <a:ext cx="215798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1A1F"/>
                </a:solidFill>
                <a:latin typeface="Georgia"/>
              </a:rPr>
              <a:t>Half fanout is usually enough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2920" y="5733288"/>
            <a:ext cx="253288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34952"/>
                </a:solidFill>
                <a:latin typeface="Segoe UI"/>
              </a:rPr>
              <a:t>At s=2×10, PENCIL matches Cora Pool and beats full s=2×20 on Citeseer Pool and Cora HeaRT. Citeseer HeaRT is the only case that clearly needs full context.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264408" y="5266944"/>
            <a:ext cx="2770632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D4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264408" y="5266944"/>
            <a:ext cx="2770632" cy="41148"/>
          </a:xfrm>
          <a:prstGeom prst="rect">
            <a:avLst/>
          </a:prstGeom>
          <a:solidFill>
            <a:srgbClr val="0F7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401568" y="5394960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7670"/>
                </a:solidFill>
                <a:latin typeface="Georgia"/>
              </a:rPr>
              <a:t>02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739896" y="5376672"/>
            <a:ext cx="215798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1A1F"/>
                </a:solidFill>
                <a:latin typeface="Georgia"/>
              </a:rPr>
              <a:t>The cheap hybrid helps everywhere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383280" y="5733288"/>
            <a:ext cx="253288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34952"/>
                </a:solidFill>
                <a:latin typeface="Segoe UI"/>
              </a:rPr>
              <a:t>A validation-selected hybrid using at most 10% of full GPU compute improves over Adamic–Adar in all four test settings.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144768" y="5266944"/>
            <a:ext cx="2770632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D4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144768" y="5266944"/>
            <a:ext cx="2770632" cy="41148"/>
          </a:xfrm>
          <a:prstGeom prst="rect">
            <a:avLst/>
          </a:prstGeom>
          <a:solidFill>
            <a:srgbClr val="B46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281928" y="5394960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B46318"/>
                </a:solidFill>
                <a:latin typeface="Georgia"/>
              </a:rPr>
              <a:t>03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620256" y="5376672"/>
            <a:ext cx="215798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1A1F"/>
                </a:solidFill>
                <a:latin typeface="Georgia"/>
              </a:rPr>
              <a:t>Compute matters in the difficult tail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63640" y="5733288"/>
            <a:ext cx="253288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34952"/>
                </a:solidFill>
                <a:latin typeface="Segoe UI"/>
              </a:rPr>
              <a:t>Re-ranking the top 10% adds little. PENCIL is useful for links that graph heuristics cannot separate; 57.3% of true Cora test links have zero common neighbours.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025128" y="5266944"/>
            <a:ext cx="2770632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D4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025128" y="5266944"/>
            <a:ext cx="2770632" cy="41148"/>
          </a:xfrm>
          <a:prstGeom prst="rect">
            <a:avLst/>
          </a:prstGeom>
          <a:solidFill>
            <a:srgbClr val="9D1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162288" y="5394960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D1B32"/>
                </a:solidFill>
                <a:latin typeface="Georgia"/>
              </a:rPr>
              <a:t>04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500616" y="5376672"/>
            <a:ext cx="215798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1A1F"/>
                </a:solidFill>
                <a:latin typeface="Georgia"/>
              </a:rPr>
              <a:t>The rule transfers across graphs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144000" y="5733288"/>
            <a:ext cx="253288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34952"/>
                </a:solidFill>
                <a:latin typeface="Segoe UI"/>
              </a:rPr>
              <a:t>At a 25% cap, the rule selected on Cora reaches 44.9 MRR on Citeseer, compared with 37.9 from Citeseer's noisier local validation choice.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84048" y="6611112"/>
            <a:ext cx="11411712" cy="10972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84048" y="6675120"/>
            <a:ext cx="11411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777D85"/>
                </a:solidFill>
                <a:latin typeface="Segoe UI"/>
              </a:rPr>
              <a:t>Operating points are selected on validation data; test data are used only for the reported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